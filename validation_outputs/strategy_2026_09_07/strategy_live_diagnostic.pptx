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2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672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69D5D31-B2BA-66CF-EF67-FAB208AAA7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302CAF-E1F9-0AD3-036C-C42F3B815B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3ECE8-31BF-4915-8E5C-07975FCFAF5E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BBDB00-A0A5-5916-C380-F6826FA34E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F532EB-2869-0D4A-2D84-5D0D28BA87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ED769-3CE0-4860-AE1D-DD71879645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360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C59DA3-3CB6-C915-5A2A-53ACE53B1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C34209-CB96-DB80-6938-8C327669C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99D738-757C-A544-6B7B-31608731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510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58850-111C-56C1-0A73-FB715D744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44A165-29CF-75F7-828F-D15D4E96B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E53AA5-A9A6-A422-87A5-632664F77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93EF1E-6C40-C9D3-2A28-10038B91D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0405B-6108-69FA-0F62-42103253D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701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7EC4F-8242-9E77-5A68-21A45832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6E9116-155E-4EF7-300C-E700D4785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F1137A-C3FB-1A35-4586-D44502A52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95DCD3-29AE-74E3-2209-7243385B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9B3D7A-A0B5-B026-A8DF-63485533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66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3F814-62C1-A938-1D3B-FD43346FE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394485-7396-2267-3D23-2C7B0726B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8B2CE2-D2ED-5489-52CE-7C5D2C4AB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6F7614-ED18-A984-8F74-F61B85E87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EE2EC8-8381-917E-0B81-E56DE35B0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180C58-B833-AFE2-FA57-8171A6E03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365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BD5C88-12D4-6F2F-A522-4059345DB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8731ED-5051-6D22-F9F5-02EDAAB33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4AA3CB-4ACC-C2C7-0251-7EC22EC54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B128995-4E94-6F30-A68B-0F5318BE1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CCF86A-A9B7-AEB4-6013-8EBB37B39C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4C97D0-43D6-8A44-D6AE-7FCD41125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0F5E0F-5AA5-E909-68B4-26C01E2A9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188B353-E6B9-226F-6F4A-E5466977A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85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78782-7921-718D-AAE5-20B3BAE07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3ECA6A-8958-92B0-59EF-C5744E0F4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5B39E7-6771-8463-65C1-FB178BCA6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C80848-3417-A942-0780-44C9878C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98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56959F-DA71-B5DE-428C-0C302BEE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B9A501-05C3-3D05-BFD4-2F7ADB5D5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3BF65F-D1BA-A029-F2C1-1E8559FCB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299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0F9F7-6D9C-067B-BAAD-674421796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1E05BE-7989-9CD0-188C-D60556CDE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AE5C57-2DFA-FE75-4952-C8D8F424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35BBEE-799A-1A8F-55C3-584DBD0E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C9AFF4-CEEB-6088-A493-6478DA015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56EC7-5B25-25EF-096A-E69BB3ED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522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3B54F1-14D8-42A8-0C15-8225F7715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4EDAFB-8AD9-684C-491F-563CE43FFE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C87AE0-B5A0-6F9C-405D-7CAC5FA5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894161-DEE7-34D5-0E0D-FDDB41E33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CA64ED-2730-3769-0E55-D796FD864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DFCEE3-3F98-1E82-04A7-E6ED5C3FE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02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436BD-C4E6-70A3-CAAA-BE30E3AD6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20D55F-1503-55AA-018F-CEF5C3EAF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938A59-8874-6CD5-49F1-AE0FD10E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C417C4-8DEC-A704-929A-CD932D02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87421F-E17B-C715-FFB0-AB4EEA04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662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239632-D6A7-8B44-DA61-95E84214C6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A9A047-6556-9BFB-EB8E-4D913DD8D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8EDF4C-4E9B-8A09-FA83-007919B19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D8F14B-4B1B-3EB2-0299-1BC196A3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D26DC6-9ADB-A15F-1B8E-CFDE34504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7421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4F4D01-E7B6-3B4B-99ED-CEA99BA125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CDC792-249F-21A0-2767-983665A21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28175F-F98D-4D5C-9A01-E3B9A0DEF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344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blogs.microsoft.com/blog/2026/09/01/the-yield-imperative-turning-ai-infrastructure-into-useful-intelligence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apple.com/newsroom/2026/08/apple-introduces-m6-and-m5-ultra-for-a-big-leap-in-performance-and-ai-comput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324D47-8109-B621-0DA4-F76E6299615A}"/>
              </a:ext>
            </a:extLst>
          </p:cNvPr>
          <p:cNvSpPr/>
          <p:nvPr/>
        </p:nvSpPr>
        <p:spPr>
          <a:xfrm>
            <a:off x="0" y="0"/>
            <a:ext cx="12192000" cy="2493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637592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《FPC-RD 科技资讯》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生成日期: 2026-09-07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003366"/>
                </a:solidFill>
              </a:defRPr>
            </a:pPr>
            <a:r>
              <a:t>全球科技趋势与头部企业战略动态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003366"/>
                </a:solidFill>
              </a:defRPr>
            </a:pPr>
            <a:r>
              <a:t>资本投入与未来科技趋势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508760"/>
                <a:gridCol w="685800"/>
                <a:gridCol w="1508760"/>
                <a:gridCol w="868680"/>
                <a:gridCol w="2697480"/>
              </a:tblGrid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公司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季度资本支出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同比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全年指引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指引修订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主要流向</a:t>
                      </a:r>
                    </a:p>
                  </a:txBody>
                  <a:tcPr marL="45720" marR="45720" marT="27432" marB="27432"/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Microsoft</a:t>
                      </a:r>
                      <a:br/>
                      <a:r>
                        <a:t>（微软）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Alphabet</a:t>
                      </a:r>
                      <a:br/>
                      <a:r>
                        <a:t>（谷歌母公司）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Amazon</a:t>
                      </a:r>
                      <a:br/>
                      <a:r>
                        <a:t>（亚马逊）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2102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t>CapEx（资本支出）：现金支出与含融资租赁口径不能直接排名。数值链接至官方原文。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t>季度和统计口径尚未核实，不填入估算。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62856"/>
            <a:ext cx="8229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t>AI算力：本期证据不足，暂不评级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28032"/>
            <a:ext cx="8229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t>ASIC（专用集成电路）：本期证据不足，暂不评级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93208"/>
            <a:ext cx="8229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t>HBM（高带宽存储器）/先进封装：本期证据不足，暂不评级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58384"/>
            <a:ext cx="8229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t>高速光互连：本期证据不足，暂不评级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23560"/>
            <a:ext cx="8229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t>数据中心供电与散热：本期证据不足，暂不评级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88736"/>
            <a:ext cx="8229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t>具身智能/机器人：本期证据不足，暂不评级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53912"/>
            <a:ext cx="8229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t>AI眼镜/增强现实：本期证据不足，暂不评级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003366"/>
                </a:solidFill>
              </a:defRPr>
            </a:pPr>
            <a:r>
              <a:t>全球科技趋势与头部企业战略动态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003366"/>
                </a:solidFill>
              </a:defRPr>
            </a:pPr>
            <a:r>
              <a:t>七姐妹近期战略动作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2423160"/>
                <a:gridCol w="1234440"/>
                <a:gridCol w="1051560"/>
                <a:gridCol w="2377440"/>
              </a:tblGrid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公司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近期最重要动作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关键数据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技术方向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未来意义（条件判断）</a:t>
                      </a:r>
                    </a:p>
                  </a:txBody>
                  <a:tcPr marL="45720" marR="45720" marT="27432" marB="27432"/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NVIDIA</a:t>
                      </a:r>
                      <a:br/>
                      <a:r>
                        <a:t>（英伟达）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未完成模型分析，待复核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Microsoft</a:t>
                      </a:r>
                      <a:br/>
                      <a:r>
                        <a:t>（微软）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未完成模型分析，待复核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Alphabet</a:t>
                      </a:r>
                      <a:br/>
                      <a:r>
                        <a:t>（谷歌母公司）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未完成模型分析，待复核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Amazon</a:t>
                      </a:r>
                      <a:br/>
                      <a:r>
                        <a:t>（亚马逊）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未完成模型分析，待复核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未完成模型分析，待复核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Apple</a:t>
                      </a:r>
                      <a:br/>
                      <a:r>
                        <a:t>（苹果）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未完成模型分析，待复核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Tesla</a:t>
                      </a:r>
                      <a:br/>
                      <a:r>
                        <a:t>（特斯拉）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未完成模型分析，待复核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t>〔媒体〕媒体报道，尚未获得官方确认。无新增信号不代表业务停滞。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515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专题模块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7772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03366"/>
                </a:solidFill>
              </a:defRPr>
            </a:pPr>
            <a:r>
              <a:t>Microsoft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92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06600"/>
                </a:solidFill>
              </a:defRPr>
            </a:pPr>
            <a:r>
              <a:t>详细新闻 1 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📊 Microsoft (MSFT) - 量化面与事件催化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行情源: yahoo_chart | 估值源: yahoo_chart+tencent_quote(pe,market_cap) | 截止: 2026-09-04 13:30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9600"/>
                </a:solidFill>
              </a:defRPr>
            </a:pPr>
            <a:r>
              <a:t>499.70 USD  🔻 -2.04%</a:t>
            </a:r>
          </a:p>
          <a:p>
            <a:pPr>
              <a:spcBef>
                <a:spcPts val="500"/>
              </a:spcBef>
              <a:defRPr sz="1050"/>
            </a:pPr>
            <a:r>
              <a:t>▪ TTM市盈率: 27.84x</a:t>
            </a:r>
          </a:p>
          <a:p>
            <a:pPr>
              <a:spcBef>
                <a:spcPts val="500"/>
              </a:spcBef>
              <a:defRPr sz="1050"/>
            </a:pPr>
            <a:r>
              <a:t>▪ 预期市盈率: 暂无可靠数据</a:t>
            </a:r>
          </a:p>
          <a:p>
            <a:pPr>
              <a:spcBef>
                <a:spcPts val="500"/>
              </a:spcBef>
              <a:defRPr sz="1050"/>
            </a:pPr>
            <a:r>
              <a:t>▪ 市净率: 暂无可靠数据  |  盈利收益率: 3.59%</a:t>
            </a:r>
          </a:p>
          <a:p>
            <a:pPr>
              <a:spcBef>
                <a:spcPts val="500"/>
              </a:spcBef>
              <a:defRPr sz="1050"/>
            </a:pPr>
            <a:r>
              <a:t>▪ 估值判断: PE绝对值处于中等区间</a:t>
            </a:r>
          </a:p>
          <a:p>
            <a:pPr>
              <a:spcBef>
                <a:spcPts val="500"/>
              </a:spcBef>
              <a:defRPr sz="1050"/>
            </a:pPr>
            <a:r>
              <a:t>▪ 股价判断: 震荡中性</a:t>
            </a:r>
          </a:p>
          <a:p>
            <a:pPr>
              <a:spcBef>
                <a:spcPts val="500"/>
              </a:spcBef>
              <a:defRPr sz="1050"/>
            </a:pPr>
            <a:r>
              <a:t>▪ 研究观点: 中性观察</a:t>
            </a:r>
          </a:p>
          <a:p>
            <a:pPr>
              <a:spcBef>
                <a:spcPts val="500"/>
              </a:spcBef>
              <a:defRPr sz="1050"/>
            </a:pPr>
            <a:r>
              <a:t>▪ 总市值: 3.71万亿  |  52周区间: 349.20 - 553.72</a:t>
            </a:r>
          </a:p>
          <a:p>
            <a:pPr>
              <a:spcBef>
                <a:spcPts val="500"/>
              </a:spcBef>
              <a:defRPr sz="900">
                <a:solidFill>
                  <a:srgbClr val="595959"/>
                </a:solidFill>
              </a:defRPr>
            </a:pPr>
            <a:r>
              <a:t>依据: 现价低于5日均线；现价高于20日均线；近20个交易日涨跌-0.06%；位于52周区间约74%位置</a:t>
            </a:r>
          </a:p>
          <a:p>
            <a:pPr>
              <a:spcBef>
                <a:spcPts val="400"/>
              </a:spcBef>
              <a:defRPr sz="850">
                <a:solidFill>
                  <a:srgbClr val="595959"/>
                </a:solidFill>
              </a:defRPr>
            </a:pPr>
            <a:r>
              <a:t>观点依据: 现有趋势与估值信号未形成一致方向</a:t>
            </a:r>
          </a:p>
        </p:txBody>
      </p:sp>
      <p:pic>
        <p:nvPicPr>
          <p:cNvPr id="5" name="Picture 4" descr="kline_MS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97280"/>
            <a:ext cx="4572000" cy="28762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5099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t>技术趋势与战略判断：暂无可靠数据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6908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💰 财务与资本投入</a:t>
            </a:r>
          </a:p>
          <a:p>
            <a:pPr>
              <a:spcBef>
                <a:spcPts val="600"/>
              </a:spcBef>
              <a:defRPr sz="1100"/>
            </a:pPr>
            <a:r>
              <a:t>暂无可靠数据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406908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🚀 技术与产品路线</a:t>
            </a:r>
          </a:p>
          <a:p>
            <a:pPr>
              <a:spcBef>
                <a:spcPts val="600"/>
              </a:spcBef>
              <a:defRPr sz="1100"/>
            </a:pPr>
            <a:r>
              <a:t>暂无可靠数据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406908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🔗 产业链与技术传导</a:t>
            </a:r>
          </a:p>
          <a:p>
            <a:pPr>
              <a:spcBef>
                <a:spcPts val="600"/>
              </a:spcBef>
              <a:defRPr sz="1100"/>
            </a:pPr>
            <a:r>
              <a:t>暂无可靠数据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06908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🏛️ 政策与监管</a:t>
            </a:r>
          </a:p>
          <a:p>
            <a:pPr>
              <a:spcBef>
                <a:spcPts val="600"/>
              </a:spcBef>
              <a:defRPr sz="1100"/>
            </a:pPr>
            <a:r>
              <a:t>暂无可靠数据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6E6E"/>
                </a:solidFill>
              </a:defRPr>
            </a:pPr>
            <a:r>
              <a:t>规则化研究观察，不构成个性化投资建议或目标价。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接口实测原文摘录（非正式成稿）：The yield imperative: Turning AI infras…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808080"/>
                </a:solidFill>
              </a:defRPr>
            </a:pPr>
            <a:r>
              <a:t>专题: Microsoft  |  来源: Microsoft  |  时间: 2026-09-02T00:00:00.000Z  |  热度: ⭐⭐⭐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The yield imperative: Turning AI infrastructure into useful intelligence - The Official Microsoft Blog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# The yield imperative: Turning AI infrastructure into useful intelligence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Sep 1, 2026 | Rani Borkar - President, Azure Hardware Systems and Infrastructure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As we enter the next era, what will be the defining measure of our progress?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Every industry has a word that shapes how it thinks. For pilots, it’s safety. For insurers, it’s risk.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For the semiconductor industry, it’s yield.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Yield doe</a:t>
            </a:r>
          </a:p>
          <a:p>
            <a:pPr>
              <a:spcAft>
                <a:spcPts val="600"/>
              </a:spcAft>
              <a:defRPr sz="1100" b="0">
                <a:solidFill>
                  <a:srgbClr val="0070C0"/>
                </a:solidFill>
              </a:defRPr>
            </a:pPr>
            <a:r>
              <a:rPr>
                <a:hlinkClick r:id="rId2"/>
              </a:rPr>
              <a:t>🔗 溯源查证: 点击查看原文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515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专题模块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7772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03366"/>
                </a:solidFill>
              </a:defRPr>
            </a:pPr>
            <a:r>
              <a:t>Apple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92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06600"/>
                </a:solidFill>
              </a:defRPr>
            </a:pPr>
            <a:r>
              <a:t>详细新闻 1 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📊 Apple (AAPL) - 量化面与事件催化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行情源: yahoo_chart | 估值源: yahoo_chart+tencent_quote(pe,market_cap) | 截止: 2026-09-04 13:30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9600"/>
                </a:solidFill>
              </a:defRPr>
            </a:pPr>
            <a:r>
              <a:t>319.97 USD  🔻 -2.51%</a:t>
            </a:r>
          </a:p>
          <a:p>
            <a:pPr>
              <a:spcBef>
                <a:spcPts val="500"/>
              </a:spcBef>
              <a:defRPr sz="1050"/>
            </a:pPr>
            <a:r>
              <a:t>▪ TTM市盈率: 36.69x</a:t>
            </a:r>
          </a:p>
          <a:p>
            <a:pPr>
              <a:spcBef>
                <a:spcPts val="500"/>
              </a:spcBef>
              <a:defRPr sz="1050"/>
            </a:pPr>
            <a:r>
              <a:t>▪ 预期市盈率: 暂无可靠数据</a:t>
            </a:r>
          </a:p>
          <a:p>
            <a:pPr>
              <a:spcBef>
                <a:spcPts val="500"/>
              </a:spcBef>
              <a:defRPr sz="1050"/>
            </a:pPr>
            <a:r>
              <a:t>▪ 市净率: 暂无可靠数据  |  盈利收益率: 2.73%</a:t>
            </a:r>
          </a:p>
          <a:p>
            <a:pPr>
              <a:spcBef>
                <a:spcPts val="500"/>
              </a:spcBef>
              <a:defRPr sz="1050"/>
            </a:pPr>
            <a:r>
              <a:t>▪ 估值判断: PE绝对值相对较高</a:t>
            </a:r>
          </a:p>
          <a:p>
            <a:pPr>
              <a:spcBef>
                <a:spcPts val="500"/>
              </a:spcBef>
              <a:defRPr sz="1050"/>
            </a:pPr>
            <a:r>
              <a:t>▪ 股价判断: 震荡中性</a:t>
            </a:r>
          </a:p>
          <a:p>
            <a:pPr>
              <a:spcBef>
                <a:spcPts val="500"/>
              </a:spcBef>
              <a:defRPr sz="1050"/>
            </a:pPr>
            <a:r>
              <a:t>▪ 研究观点: 中性观察</a:t>
            </a:r>
          </a:p>
          <a:p>
            <a:pPr>
              <a:spcBef>
                <a:spcPts val="500"/>
              </a:spcBef>
              <a:defRPr sz="1050"/>
            </a:pPr>
            <a:r>
              <a:t>▪ 总市值: 4.67万亿  |  52周区间: 225.95 - 344.57</a:t>
            </a:r>
          </a:p>
          <a:p>
            <a:pPr>
              <a:spcBef>
                <a:spcPts val="500"/>
              </a:spcBef>
              <a:defRPr sz="900">
                <a:solidFill>
                  <a:srgbClr val="595959"/>
                </a:solidFill>
              </a:defRPr>
            </a:pPr>
            <a:r>
              <a:t>依据: 现价低于5日均线；现价高于20日均线；近20个交易日涨跌+2.12%；位于52周区间约79%位置</a:t>
            </a:r>
          </a:p>
          <a:p>
            <a:pPr>
              <a:spcBef>
                <a:spcPts val="400"/>
              </a:spcBef>
              <a:defRPr sz="850">
                <a:solidFill>
                  <a:srgbClr val="595959"/>
                </a:solidFill>
              </a:defRPr>
            </a:pPr>
            <a:r>
              <a:t>观点依据: 现有趋势与估值信号未形成一致方向</a:t>
            </a:r>
          </a:p>
        </p:txBody>
      </p:sp>
      <p:pic>
        <p:nvPicPr>
          <p:cNvPr id="5" name="Picture 4" descr="kline_AAP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97280"/>
            <a:ext cx="4572000" cy="28762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5099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t>技术趋势与战略判断：暂无可靠数据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6908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💰 财务与资本投入</a:t>
            </a:r>
          </a:p>
          <a:p>
            <a:pPr>
              <a:spcBef>
                <a:spcPts val="600"/>
              </a:spcBef>
              <a:defRPr sz="1100"/>
            </a:pPr>
            <a:r>
              <a:t>暂无可靠数据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406908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🚀 技术与产品路线</a:t>
            </a:r>
          </a:p>
          <a:p>
            <a:pPr>
              <a:spcBef>
                <a:spcPts val="600"/>
              </a:spcBef>
              <a:defRPr sz="1100"/>
            </a:pPr>
            <a:r>
              <a:t>暂无可靠数据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406908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🔗 产业链与技术传导</a:t>
            </a:r>
          </a:p>
          <a:p>
            <a:pPr>
              <a:spcBef>
                <a:spcPts val="600"/>
              </a:spcBef>
              <a:defRPr sz="1100"/>
            </a:pPr>
            <a:r>
              <a:t>暂无可靠数据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06908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🏛️ 政策与监管</a:t>
            </a:r>
          </a:p>
          <a:p>
            <a:pPr>
              <a:spcBef>
                <a:spcPts val="600"/>
              </a:spcBef>
              <a:defRPr sz="1100"/>
            </a:pPr>
            <a:r>
              <a:t>暂无可靠数据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6E6E"/>
                </a:solidFill>
              </a:defRPr>
            </a:pPr>
            <a:r>
              <a:t>规则化研究观察，不构成个性化投资建议或目标价。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接口实测原文摘录（非正式成稿）：Apple introduces M6 and M5 Ultra for a…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808080"/>
                </a:solidFill>
              </a:defRPr>
            </a:pPr>
            <a:r>
              <a:t>专题: Apple  |  来源: Apple  |  时间: 2026-08-25T13:00:51.000Z  |  热度: ⭐⭐⭐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# Apple introduces M6 and M5 Ultra for a big leap in performance and AI compute - Apple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Published: 2026-08-25T13:00:51+00:00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Source: apple.com (apple.com)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Language: en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## Story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Apple introduces M6 and M5 Ultra for a big leap in performance and AI compute - Apple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opens in new window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M6 delivers a revolutionary leap in everyday performance and power efficiency. M5 Ultra unleashes unprecedented desktop-class power and massive unified memory bandwidth to conquer the most demanding projects.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Do</a:t>
            </a:r>
          </a:p>
          <a:p>
            <a:pPr>
              <a:spcAft>
                <a:spcPts val="600"/>
              </a:spcAft>
              <a:defRPr sz="1100" b="0">
                <a:solidFill>
                  <a:srgbClr val="0070C0"/>
                </a:solidFill>
              </a:defRPr>
            </a:pPr>
            <a:r>
              <a:rPr>
                <a:hlinkClick r:id="rId2"/>
              </a:rPr>
              <a:t>🔗 溯源查证: 点击查看原文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等线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wz zhao</dc:creator>
  <cp:lastModifiedBy>wz zhao</cp:lastModifiedBy>
  <cp:revision>5</cp:revision>
  <dcterms:created xsi:type="dcterms:W3CDTF">2026-03-12T07:24:02Z</dcterms:created>
  <dcterms:modified xsi:type="dcterms:W3CDTF">2026-04-15T02:27:39Z</dcterms:modified>
</cp:coreProperties>
</file>